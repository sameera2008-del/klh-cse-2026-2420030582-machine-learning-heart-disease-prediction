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8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1BCD-646F-82BF-ED9B-9E8573B72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9D47A-77AE-A171-54CB-D52A324B6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1B7FF-3473-2722-9D38-B92EE1EF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30F1B-E141-8EB8-9D3D-8D0946A49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63E80-773C-FBE1-639A-BCAEE8BF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0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BC47-6D25-CE38-0FF9-89AA34BAD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A90FF-3466-BB03-C669-1CD87982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BE51C-47BA-D606-BCB4-5571546C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2420D-0EEA-D711-E6DF-4DE83B8A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0E6C8-28AC-D7CB-BF1E-954E79D0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53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FFF1C-2B10-F4F6-EFF9-AC6B19C2F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FD0E9-09D9-49A7-4788-FA64F4BC2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C212B-E7F8-AF5D-9695-1158A8C07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97C9-D906-AC94-17DF-671E96053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589C8-A729-772C-9FCE-65789F29B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4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60765-1966-D076-07B8-F79674642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9BFFF-3038-0759-15D5-B86D35DDA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9A78F-CCCD-81A4-A87B-50C1CB2EC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9133E-56F5-BE89-011F-CAC1DF6C6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18BEB-5F1C-A7B4-E8B5-39CBD85F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379E7-7BAF-BCA9-88E3-700A4EAF6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4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BC0A9-A204-4294-BAD3-A7A9A6EC1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E0E95-6BB4-BDFB-A459-70C2E2AB1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D6FB4-FAF4-406E-92A9-7D4C8BFF4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67B03-EE2C-BA45-FDC9-0174FECA0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EA843-3DC9-239C-4344-C507F59AF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0DCA47-5878-48FF-35BE-1250627F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17D7C9-A59C-29C2-5ABD-C4E6BF8F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2F83EE-5DDA-53FF-D6F6-D9EEC8A3B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86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7CAD0-4A34-EAC2-1E8D-307769CD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F610D-F3DE-4849-FB51-1A9B1CF0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5C231-8490-E328-92D1-14D54F36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CE084-F448-50A6-2591-6E60ADB9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79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AD42C6-81FB-0DFF-F7C0-FEEC0937C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BE5F5-0546-0B1C-6F7A-71E65E126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87682-162D-B8C5-DADB-025A8CAFA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48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FE170-4C09-7156-9408-3C254B011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11DBC-3633-09B4-7A65-B9E8281B7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FE0C4-A906-D5E7-4F6E-99DBB4635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373ED-DC61-ABAE-8D4F-11726774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30793-811B-CCCA-69A4-CFF72FEB8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9AC38-3025-57BD-583B-223B8B8A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57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2332A-3D0C-8B20-15BC-FF0EA8737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FA10E-937E-8BBF-01A2-5BC8C2CA0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3CC57-2C4B-10E0-A321-B9B397225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229C2-5C6E-CAE7-F4F7-BC88365CB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BF942-476E-DD29-C998-58DB8F84C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61A41-A584-AE8E-646E-90FF37AF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3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1483-809C-9E0F-4578-4DE0F8B62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D7B4A-D0DD-9888-F8EF-F49E1FD7B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F0A67-7990-79BD-8865-5D2731EE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2CB4A-54DE-9D2E-EA0A-03EDBAABE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90DFF-B3A0-371D-3905-D6F599FFC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1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9D1B2A-B1EA-161A-7029-87D45013F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453FD0-69CE-CD98-16FA-81B96DC96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492F9-C5E5-5B6F-3C9A-39A3900F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0826-55FE-4F0F-A8B3-A0533E46D07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48C13-04F0-6718-89DD-AD563F5FD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900A5-4A4F-1BD7-949A-4A8BB3A12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40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848F8-F1E6-5094-DD9F-20C3FDC4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930B4-EBD0-C02D-68FC-79693FDC5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BC87C-3589-FD73-CE88-E2C6B6FAF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30826-55FE-4F0F-A8B3-A0533E46D07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DC96A-6E36-D565-4AA9-E70D745AF3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212AC-7384-2221-219B-790EB36DEC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9C00C-68E3-4770-8BCB-A240E672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0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ml/datasets/heart+diseas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datasets/johnsmith88/heart-disease-dataset" TargetMode="External"/><Relationship Id="rId4" Type="http://schemas.openxmlformats.org/officeDocument/2006/relationships/hyperlink" Target="https://www.kaggle.com/datasets/cherngs/heart-disease-cleveland-uci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19925-0CB5-C83C-CC33-77807A68C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68694"/>
            <a:ext cx="9144000" cy="1483315"/>
          </a:xfrm>
        </p:spPr>
        <p:txBody>
          <a:bodyPr>
            <a:normAutofit fontScale="90000"/>
          </a:bodyPr>
          <a:lstStyle/>
          <a:p>
            <a:br>
              <a:rPr lang="en-US" sz="3600" b="1" dirty="0"/>
            </a:br>
            <a:r>
              <a:rPr lang="en-US" sz="3600" b="1" dirty="0"/>
              <a:t>Explainable Machine Learning Framework for Early Heart Disease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ED80F-EA78-E9A8-AC4A-1EE7A58E4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78207"/>
            <a:ext cx="9144000" cy="2151490"/>
          </a:xfrm>
        </p:spPr>
        <p:txBody>
          <a:bodyPr anchor="t">
            <a:normAutofit lnSpcReduction="10000"/>
          </a:bodyPr>
          <a:lstStyle/>
          <a:p>
            <a:r>
              <a:rPr lang="en-US" b="1" dirty="0"/>
              <a:t>Group-8</a:t>
            </a:r>
          </a:p>
          <a:p>
            <a:r>
              <a:rPr lang="en-US" dirty="0"/>
              <a:t>2420030503-K. Anoop</a:t>
            </a:r>
          </a:p>
          <a:p>
            <a:r>
              <a:rPr lang="en-US" dirty="0"/>
              <a:t>2420030490 -</a:t>
            </a:r>
            <a:r>
              <a:rPr lang="en-US" dirty="0" err="1"/>
              <a:t>V.Sree</a:t>
            </a:r>
            <a:endParaRPr lang="en-US" dirty="0"/>
          </a:p>
          <a:p>
            <a:r>
              <a:rPr lang="en-US" dirty="0"/>
              <a:t>2420030582-Sameera.M</a:t>
            </a:r>
          </a:p>
          <a:p>
            <a:r>
              <a:rPr lang="en-US" dirty="0"/>
              <a:t>     2420030537-Souraja.M	</a:t>
            </a:r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450C6B32-0117-413C-2FD0-AFAA20B00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2" y="-559619"/>
            <a:ext cx="2152854" cy="16001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40E375-8CB3-718F-CDD7-C55DA3044916}"/>
              </a:ext>
            </a:extLst>
          </p:cNvPr>
          <p:cNvSpPr txBox="1"/>
          <p:nvPr/>
        </p:nvSpPr>
        <p:spPr>
          <a:xfrm>
            <a:off x="3250477" y="2780387"/>
            <a:ext cx="56910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+mj-lt"/>
              </a:rPr>
              <a:t>Under the esteemed guidance of – Dr. </a:t>
            </a:r>
            <a:r>
              <a:rPr lang="en-US" sz="2200" b="1" dirty="0" err="1">
                <a:latin typeface="+mj-lt"/>
              </a:rPr>
              <a:t>Swanthana</a:t>
            </a:r>
            <a:endParaRPr lang="en-US" sz="2200" b="1" dirty="0">
              <a:latin typeface="+mj-lt"/>
            </a:endParaRPr>
          </a:p>
          <a:p>
            <a:pPr algn="ctr"/>
            <a:r>
              <a:rPr lang="en-US" sz="2200" b="1" dirty="0">
                <a:latin typeface="+mj-lt"/>
              </a:rPr>
              <a:t>Section – 7 </a:t>
            </a:r>
          </a:p>
        </p:txBody>
      </p:sp>
    </p:spTree>
    <p:extLst>
      <p:ext uri="{BB962C8B-B14F-4D97-AF65-F5344CB8AC3E}">
        <p14:creationId xmlns:p14="http://schemas.microsoft.com/office/powerpoint/2010/main" val="180662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33C9-7E22-DDB0-9A80-EFE74CD85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0B372-1ADB-DC02-3FB2-C8BC37EC8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IN" b="1" dirty="0"/>
              <a:t>Heart disease is one of the leading causes of death worldwide.</a:t>
            </a:r>
            <a:br>
              <a:rPr lang="en-IN" dirty="0"/>
            </a:br>
            <a:r>
              <a:rPr lang="en-IN" dirty="0"/>
              <a:t>Many ML models predict it accurately but act as black boxes.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Doctors need transparent and interpretable prediction systems.</a:t>
            </a:r>
            <a:br>
              <a:rPr lang="en-IN" dirty="0"/>
            </a:br>
            <a:r>
              <a:rPr lang="en-IN" dirty="0"/>
              <a:t>The system should explain the medical factors behind each prediction.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An Explainable Machine Learning Framework is required.</a:t>
            </a:r>
            <a:br>
              <a:rPr lang="en-IN" dirty="0"/>
            </a:br>
            <a:r>
              <a:rPr lang="en-IN" dirty="0"/>
              <a:t>It provides accurate predictions with clear explanations for better clinical decisions.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CD05E4E6-2521-29BA-A66B-E3F7DBB36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32594"/>
            <a:ext cx="1783388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016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17024-03D4-01BA-74A7-B30F94980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5F29-042C-3B7E-48A1-DEE0AA8A3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/>
              <a:t>To develop</a:t>
            </a:r>
            <a:r>
              <a:rPr lang="en-US" dirty="0"/>
              <a:t> an accurate machine learning model for early heart disease prediction. </a:t>
            </a:r>
          </a:p>
          <a:p>
            <a:pPr lvl="0"/>
            <a:r>
              <a:rPr lang="en-US" b="1" dirty="0"/>
              <a:t>To identify and select</a:t>
            </a:r>
            <a:r>
              <a:rPr lang="en-US" dirty="0"/>
              <a:t> the most relevant clinical features influencing heart disease risk. </a:t>
            </a:r>
          </a:p>
          <a:p>
            <a:pPr lvl="0"/>
            <a:r>
              <a:rPr lang="en-US" b="1" dirty="0"/>
              <a:t>To evaluate and compare</a:t>
            </a:r>
            <a:r>
              <a:rPr lang="en-US" dirty="0"/>
              <a:t> different machine learning models based on their prediction performance. </a:t>
            </a:r>
          </a:p>
          <a:p>
            <a:pPr lvl="0"/>
            <a:r>
              <a:rPr lang="en-US" b="1" dirty="0"/>
              <a:t>To integrate</a:t>
            </a:r>
            <a:r>
              <a:rPr lang="en-US" dirty="0"/>
              <a:t> Explainable AI techniques such as </a:t>
            </a:r>
            <a:r>
              <a:rPr lang="en-US" b="1" dirty="0"/>
              <a:t>SHAP and LIME</a:t>
            </a:r>
            <a:r>
              <a:rPr lang="en-US" dirty="0"/>
              <a:t> for interpreting predictions. </a:t>
            </a:r>
          </a:p>
          <a:p>
            <a:pPr lvl="0"/>
            <a:r>
              <a:rPr lang="en-US" b="1" dirty="0"/>
              <a:t>To provide</a:t>
            </a:r>
            <a:r>
              <a:rPr lang="en-US" dirty="0"/>
              <a:t> transparent and understandable insights that support early diagnosis and clinical decision-making.</a:t>
            </a:r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CA3CC21B-6E76-26DF-000D-42B4E2E03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2" y="-588408"/>
            <a:ext cx="2202646" cy="163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14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DDC39-8989-38B4-E368-5D684A1A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Survey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0D90E4F-EA20-BE72-53DD-ABF175B87F7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52954946"/>
              </p:ext>
            </p:extLst>
          </p:nvPr>
        </p:nvGraphicFramePr>
        <p:xfrm>
          <a:off x="839787" y="1869896"/>
          <a:ext cx="10061092" cy="4202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273">
                  <a:extLst>
                    <a:ext uri="{9D8B030D-6E8A-4147-A177-3AD203B41FA5}">
                      <a16:colId xmlns:a16="http://schemas.microsoft.com/office/drawing/2014/main" val="2627190514"/>
                    </a:ext>
                  </a:extLst>
                </a:gridCol>
                <a:gridCol w="2515273">
                  <a:extLst>
                    <a:ext uri="{9D8B030D-6E8A-4147-A177-3AD203B41FA5}">
                      <a16:colId xmlns:a16="http://schemas.microsoft.com/office/drawing/2014/main" val="2781002810"/>
                    </a:ext>
                  </a:extLst>
                </a:gridCol>
                <a:gridCol w="2515273">
                  <a:extLst>
                    <a:ext uri="{9D8B030D-6E8A-4147-A177-3AD203B41FA5}">
                      <a16:colId xmlns:a16="http://schemas.microsoft.com/office/drawing/2014/main" val="593284392"/>
                    </a:ext>
                  </a:extLst>
                </a:gridCol>
                <a:gridCol w="2515273">
                  <a:extLst>
                    <a:ext uri="{9D8B030D-6E8A-4147-A177-3AD203B41FA5}">
                      <a16:colId xmlns:a16="http://schemas.microsoft.com/office/drawing/2014/main" val="1549624592"/>
                    </a:ext>
                  </a:extLst>
                </a:gridCol>
              </a:tblGrid>
              <a:tr h="1050533">
                <a:tc>
                  <a:txBody>
                    <a:bodyPr/>
                    <a:lstStyle/>
                    <a:p>
                      <a:r>
                        <a:rPr lang="en-IN" dirty="0"/>
                        <a:t>EXISTING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654594"/>
                  </a:ext>
                </a:extLst>
              </a:tr>
              <a:tr h="10505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Heart disease </a:t>
                      </a:r>
                      <a:r>
                        <a:rPr lang="en-IN" dirty="0"/>
                        <a:t>Prediction using Machine Learning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HDPM-01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prediction accuracy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explainability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704036"/>
                  </a:ext>
                </a:extLst>
              </a:tr>
              <a:tr h="10505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Explainable AI in Healthcare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XAIH-02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Improved trust and interpretability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 Heart Disease Focus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623777"/>
                  </a:ext>
                </a:extLst>
              </a:tr>
              <a:tr h="10505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XG-Boost based Heart Disease Prediction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XGHD-03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accuracy and fast prediction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patient-level explanations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33183"/>
                  </a:ext>
                </a:extLst>
              </a:tr>
            </a:tbl>
          </a:graphicData>
        </a:graphic>
      </p:graphicFrame>
      <p:pic>
        <p:nvPicPr>
          <p:cNvPr id="8" name="Picture 7" descr="MAPS &amp; DIRECTIONS - Best Private University in Telangana ...">
            <a:extLst>
              <a:ext uri="{FF2B5EF4-FFF2-40B4-BE49-F238E27FC236}">
                <a16:creationId xmlns:a16="http://schemas.microsoft.com/office/drawing/2014/main" id="{4B5BBF76-937E-43D6-5EF1-D8BE2B0A0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71618"/>
            <a:ext cx="2307422" cy="171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61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8AD9-9B57-37FE-86D6-911ADA753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Gap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6390F-B17C-122C-D282-48500DE81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b="1" dirty="0"/>
              <a:t>Black-box ML models</a:t>
            </a:r>
            <a:r>
              <a:rPr lang="en-IN" dirty="0"/>
              <a:t> provide predictions without explaining the reasoning behind them. </a:t>
            </a:r>
          </a:p>
          <a:p>
            <a:pPr lvl="0"/>
            <a:r>
              <a:rPr lang="en-IN" b="1" dirty="0"/>
              <a:t>Lack of transparency</a:t>
            </a:r>
            <a:r>
              <a:rPr lang="en-IN" dirty="0"/>
              <a:t> makes it difficult to understand the factors influencing predictions. </a:t>
            </a:r>
          </a:p>
          <a:p>
            <a:pPr lvl="0"/>
            <a:r>
              <a:rPr lang="en-IN" b="1" dirty="0"/>
              <a:t>Low trust among doctors</a:t>
            </a:r>
            <a:r>
              <a:rPr lang="en-IN" dirty="0"/>
              <a:t> due to limited interpretability of AI-based decisions. </a:t>
            </a:r>
          </a:p>
          <a:p>
            <a:pPr lvl="0"/>
            <a:r>
              <a:rPr lang="en-IN" b="1" dirty="0"/>
              <a:t>Limited Explainable AI and poor risk visualization</a:t>
            </a:r>
            <a:r>
              <a:rPr lang="en-IN" dirty="0"/>
              <a:t> reduce the effectiveness of clinical decision-making.</a:t>
            </a:r>
          </a:p>
          <a:p>
            <a:r>
              <a:rPr lang="en-US" b="1" dirty="0"/>
              <a:t>Fixed Research Gap:</a:t>
            </a:r>
            <a:br>
              <a:rPr lang="en-US" dirty="0"/>
            </a:br>
            <a:r>
              <a:rPr lang="en-US" dirty="0"/>
              <a:t>Develop a prediction model that is both </a:t>
            </a:r>
            <a:r>
              <a:rPr lang="en-US" b="1" dirty="0"/>
              <a:t>accurate</a:t>
            </a:r>
            <a:r>
              <a:rPr lang="en-US" dirty="0"/>
              <a:t> and </a:t>
            </a:r>
            <a:r>
              <a:rPr lang="en-US" b="1" dirty="0"/>
              <a:t>interpretable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0980CE9B-0682-1FEC-0CD2-65FC9E110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4080"/>
            <a:ext cx="1706665" cy="126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261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C627-AB75-A94E-649E-57FE34D9B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b="1" dirty="0"/>
              <a:t>Innovation, Creativity &amp; 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C3C41-A06A-8EF5-6EAD-B2C53FD59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6647"/>
            <a:ext cx="10515600" cy="4351338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b="1" dirty="0"/>
              <a:t>Innovation:</a:t>
            </a:r>
            <a:r>
              <a:rPr lang="en-IN" dirty="0"/>
              <a:t> Integrates Explainable AI (SHAP &amp; LIME) with heart disease prediction to provide accurate and transparent results.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Creativity:</a:t>
            </a:r>
            <a:r>
              <a:rPr lang="en-IN" dirty="0"/>
              <a:t> Transforms complex machine learning predictions into simple, understandable insights for healthcare professionals.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Novelty:</a:t>
            </a:r>
            <a:r>
              <a:rPr lang="en-IN" dirty="0"/>
              <a:t> Combines SHAP and LIME to deliver patient-specific explanations, improving trust and interpretability in clinical decision-making.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2BEAC618-35D1-39EE-9044-8D26E13D2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1" y="-244144"/>
            <a:ext cx="1457857" cy="108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28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B2B09-8ED3-D094-162E-5FAF1E668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82D78-6DFC-3E07-2B50-8A8F82507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018514"/>
            <a:ext cx="5157787" cy="36845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Technical Feasibility</a:t>
            </a:r>
          </a:p>
          <a:p>
            <a:pPr lvl="0"/>
            <a:r>
              <a:rPr lang="en-US" dirty="0"/>
              <a:t>Python </a:t>
            </a:r>
          </a:p>
          <a:p>
            <a:pPr lvl="0"/>
            <a:r>
              <a:rPr lang="en-US" dirty="0"/>
              <a:t>Scikit-learn </a:t>
            </a:r>
          </a:p>
          <a:p>
            <a:pPr lvl="0"/>
            <a:r>
              <a:rPr lang="en-US" dirty="0" err="1"/>
              <a:t>XGBoost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SHAP </a:t>
            </a:r>
          </a:p>
          <a:p>
            <a:pPr lvl="0"/>
            <a:r>
              <a:rPr lang="en-US" dirty="0"/>
              <a:t>LIME </a:t>
            </a:r>
          </a:p>
          <a:p>
            <a:pPr lvl="0"/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/Jupyter Notebook 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181847-33F5-A6D3-8B42-461FEF0D7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84290"/>
            <a:ext cx="5183188" cy="36845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Dataset Availability</a:t>
            </a:r>
          </a:p>
          <a:p>
            <a:pPr lvl="0"/>
            <a:r>
              <a:rPr lang="en-US" dirty="0"/>
              <a:t>UCI Heart Disease Dataset </a:t>
            </a:r>
          </a:p>
          <a:p>
            <a:pPr lvl="0"/>
            <a:r>
              <a:rPr lang="en-US" dirty="0"/>
              <a:t>Cleveland Heart Disease Dataset </a:t>
            </a:r>
          </a:p>
          <a:p>
            <a:pPr lvl="0"/>
            <a:r>
              <a:rPr lang="en-US" dirty="0"/>
              <a:t>Kaggle Heart Disease Dataset </a:t>
            </a:r>
          </a:p>
          <a:p>
            <a:pPr marL="0" indent="0">
              <a:buNone/>
            </a:pPr>
            <a:r>
              <a:rPr lang="en-US" b="1" dirty="0"/>
              <a:t>Cost</a:t>
            </a:r>
          </a:p>
          <a:p>
            <a:pPr lvl="0"/>
            <a:r>
              <a:rPr lang="en-US" dirty="0"/>
              <a:t>Open-source tools </a:t>
            </a:r>
          </a:p>
          <a:p>
            <a:pPr lvl="0"/>
            <a:r>
              <a:rPr lang="en-US" dirty="0"/>
              <a:t>Public datasets </a:t>
            </a:r>
          </a:p>
          <a:p>
            <a:pPr lvl="0"/>
            <a:r>
              <a:rPr lang="en-US" dirty="0"/>
              <a:t>No additional hardware required</a:t>
            </a:r>
          </a:p>
          <a:p>
            <a:endParaRPr lang="en-US" dirty="0"/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4EB4A4ED-B8DF-CD08-E8C2-E0E00F9D6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4" y="-313039"/>
            <a:ext cx="1592628" cy="118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23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AA6EE-003A-BC84-4183-A0A062489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053" y="702685"/>
            <a:ext cx="10515600" cy="767389"/>
          </a:xfrm>
        </p:spPr>
        <p:txBody>
          <a:bodyPr>
            <a:norm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Datasets </a:t>
            </a:r>
          </a:p>
        </p:txBody>
      </p:sp>
      <p:pic>
        <p:nvPicPr>
          <p:cNvPr id="7" name="Picture 6" descr="MAPS &amp; DIRECTIONS - Best Private University in Telangana ...">
            <a:extLst>
              <a:ext uri="{FF2B5EF4-FFF2-40B4-BE49-F238E27FC236}">
                <a16:creationId xmlns:a16="http://schemas.microsoft.com/office/drawing/2014/main" id="{8F39F6E6-80BA-F9C3-B752-16F767D80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2" y="-247785"/>
            <a:ext cx="1467655" cy="1090884"/>
          </a:xfrm>
          <a:prstGeom prst="rect">
            <a:avLst/>
          </a:prstGeom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31E2362-C1FB-7BB8-CCDB-34BC07FE71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7942922"/>
              </p:ext>
            </p:extLst>
          </p:nvPr>
        </p:nvGraphicFramePr>
        <p:xfrm>
          <a:off x="1372998" y="1587406"/>
          <a:ext cx="9446004" cy="24475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23002">
                  <a:extLst>
                    <a:ext uri="{9D8B030D-6E8A-4147-A177-3AD203B41FA5}">
                      <a16:colId xmlns:a16="http://schemas.microsoft.com/office/drawing/2014/main" val="1289388806"/>
                    </a:ext>
                  </a:extLst>
                </a:gridCol>
                <a:gridCol w="4723002">
                  <a:extLst>
                    <a:ext uri="{9D8B030D-6E8A-4147-A177-3AD203B41FA5}">
                      <a16:colId xmlns:a16="http://schemas.microsoft.com/office/drawing/2014/main" val="2021487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Dataset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URL Link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17245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UCI Heart Disease Dataset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u="sng" kern="100">
                          <a:effectLst/>
                          <a:hlinkClick r:id="rId3"/>
                        </a:rPr>
                        <a:t>https://archive.ics.uci.edu/ml/datasets/heart+disease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38010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Cleveland Heart Disease Dataset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u="sng" kern="100">
                          <a:effectLst/>
                          <a:hlinkClick r:id="rId4"/>
                        </a:rPr>
                        <a:t>https://www.kaggle.com/datasets/cherngs/heart-disease-cleveland-uci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0978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Heart Disease Dataset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u="sng" kern="100" dirty="0">
                          <a:effectLst/>
                          <a:hlinkClick r:id="rId5"/>
                        </a:rPr>
                        <a:t>https://www.kaggle.com/datasets/johnsmith88/heart-disease-dataset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372688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5887626-AB4B-09F0-3628-B78DFDCD5554}"/>
              </a:ext>
            </a:extLst>
          </p:cNvPr>
          <p:cNvSpPr txBox="1"/>
          <p:nvPr/>
        </p:nvSpPr>
        <p:spPr>
          <a:xfrm>
            <a:off x="1096161" y="4481596"/>
            <a:ext cx="90740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Key Features:</a:t>
            </a:r>
          </a:p>
          <a:p>
            <a:endParaRPr lang="en-US" b="1" dirty="0"/>
          </a:p>
          <a:p>
            <a:r>
              <a:rPr lang="en-US" sz="2200" dirty="0"/>
              <a:t>Age • Sex • Chest Pain • Blood Pressure • Cholesterol • Blood Sugar • ECG • Maximum Heart Rate • Exercise Angina • ST Depression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890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B473-3FB2-0B7E-DB07-5F1CB3743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180" y="254443"/>
            <a:ext cx="10515600" cy="1325563"/>
          </a:xfrm>
        </p:spPr>
        <p:txBody>
          <a:bodyPr/>
          <a:lstStyle/>
          <a:p>
            <a:r>
              <a:rPr lang="en-US" b="1" dirty="0"/>
              <a:t>Project Plan: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337898-C0A5-F62A-CC2E-AE2FEDF26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5019" y="0"/>
            <a:ext cx="3340598" cy="62158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b="1" dirty="0"/>
              <a:t>┌──────────────────────────────┐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US" sz="1000" b="1" dirty="0"/>
              <a:t>│ PHASE 1: DATA COLLECTION              │</a:t>
            </a:r>
          </a:p>
          <a:p>
            <a:pPr marL="0" indent="0">
              <a:buNone/>
            </a:pPr>
            <a:r>
              <a:rPr lang="en-US" sz="1000" b="1" dirty="0"/>
              <a:t>│ Heart Disease Dataset                         │</a:t>
            </a:r>
          </a:p>
          <a:p>
            <a:pPr marL="0" indent="0">
              <a:buNone/>
            </a:pPr>
            <a:r>
              <a:rPr lang="en-US" sz="1000" b="1" dirty="0"/>
              <a:t>└──────────────┬──────────────┘</a:t>
            </a:r>
          </a:p>
          <a:p>
            <a:pPr marL="0" indent="0">
              <a:buNone/>
            </a:pPr>
            <a:r>
              <a:rPr lang="en-US" sz="1000" b="1" dirty="0"/>
              <a:t>                                  ↓</a:t>
            </a:r>
          </a:p>
          <a:p>
            <a:pPr marL="0" indent="0">
              <a:buNone/>
            </a:pPr>
            <a:r>
              <a:rPr lang="en-US" sz="1000" b="1" dirty="0"/>
              <a:t>┌──────────────────────────────┐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US" sz="1000" b="1" dirty="0"/>
              <a:t>│ PHASE 2: DATA PREPROCESSING  │</a:t>
            </a:r>
          </a:p>
          <a:p>
            <a:pPr marL="0" indent="0">
              <a:buNone/>
            </a:pPr>
            <a:r>
              <a:rPr lang="en-US" sz="1000" b="1" dirty="0"/>
              <a:t>│ Cleaning • Encoding • Scaling│</a:t>
            </a:r>
          </a:p>
          <a:p>
            <a:pPr marL="0" indent="0">
              <a:buNone/>
            </a:pPr>
            <a:r>
              <a:rPr lang="en-US" sz="1000" b="1" dirty="0"/>
              <a:t>└──────────────┬───────────────┘</a:t>
            </a:r>
          </a:p>
          <a:p>
            <a:pPr marL="0" indent="0">
              <a:buNone/>
            </a:pPr>
            <a:r>
              <a:rPr lang="en-US" sz="1000" b="1" dirty="0"/>
              <a:t>                                  ↓</a:t>
            </a:r>
          </a:p>
          <a:p>
            <a:pPr marL="0" indent="0">
              <a:buNone/>
            </a:pPr>
            <a:r>
              <a:rPr lang="en-US" sz="1000" b="1" dirty="0"/>
              <a:t>┌──────────────────────────────┐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US" sz="1000" b="1" dirty="0"/>
              <a:t>│ PHASE 3: MODEL DEVELOPMENT     │</a:t>
            </a:r>
          </a:p>
          <a:p>
            <a:pPr marL="0" indent="0">
              <a:buNone/>
            </a:pPr>
            <a:r>
              <a:rPr lang="en-US" sz="1000" b="1" dirty="0"/>
              <a:t>│ Random Forest • </a:t>
            </a:r>
            <a:r>
              <a:rPr lang="en-US" sz="1000" b="1" dirty="0" err="1"/>
              <a:t>XGBoost</a:t>
            </a:r>
            <a:r>
              <a:rPr lang="en-US" sz="1000" b="1" dirty="0"/>
              <a:t> • SVM    │</a:t>
            </a:r>
          </a:p>
          <a:p>
            <a:pPr marL="0" indent="0">
              <a:buNone/>
            </a:pPr>
            <a:r>
              <a:rPr lang="en-US" sz="1000" b="1" dirty="0"/>
              <a:t>└──────────────┬───────────────┘</a:t>
            </a:r>
          </a:p>
          <a:p>
            <a:pPr marL="0" indent="0">
              <a:buNone/>
            </a:pPr>
            <a:r>
              <a:rPr lang="en-US" sz="1000" b="1" dirty="0"/>
              <a:t>                                  ↓</a:t>
            </a:r>
          </a:p>
          <a:p>
            <a:pPr marL="0" indent="0">
              <a:buNone/>
            </a:pPr>
            <a:r>
              <a:rPr lang="en-US" sz="1000" b="1" dirty="0"/>
              <a:t>┌──────────────────────────────┐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US" sz="1000" b="1" dirty="0"/>
              <a:t>│ PHASE 4: MODEL EVALUATION           │</a:t>
            </a:r>
          </a:p>
          <a:p>
            <a:pPr marL="0" indent="0">
              <a:buNone/>
            </a:pPr>
            <a:r>
              <a:rPr lang="en-US" sz="1000" b="1" dirty="0"/>
              <a:t>│ Accuracy • Precision • Recall               │    </a:t>
            </a:r>
          </a:p>
          <a:p>
            <a:pPr marL="0" indent="0">
              <a:buNone/>
            </a:pPr>
            <a:r>
              <a:rPr lang="en-US" sz="1000" b="1" dirty="0"/>
              <a:t>│ F1-Score                                                     │</a:t>
            </a:r>
          </a:p>
          <a:p>
            <a:pPr marL="0" indent="0">
              <a:buNone/>
            </a:pPr>
            <a:r>
              <a:rPr lang="en-US" sz="1000" b="1" dirty="0"/>
              <a:t>└──────────────┬───────────────┘</a:t>
            </a:r>
          </a:p>
          <a:p>
            <a:pPr marL="0" indent="0">
              <a:buNone/>
            </a:pPr>
            <a:r>
              <a:rPr lang="en-US" sz="1000" b="1" dirty="0"/>
              <a:t>                                  ↓</a:t>
            </a:r>
          </a:p>
          <a:p>
            <a:pPr marL="0" indent="0">
              <a:buNone/>
            </a:pPr>
            <a:r>
              <a:rPr lang="en-US" sz="1000" b="1" dirty="0"/>
              <a:t>┌──────────────────────────────┐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US" sz="1000" b="1" dirty="0"/>
              <a:t>│ PHASE 5: EXPLAINABLE                        │</a:t>
            </a:r>
          </a:p>
          <a:p>
            <a:pPr marL="0" indent="0">
              <a:buNone/>
            </a:pPr>
            <a:r>
              <a:rPr lang="en-US" sz="1000" b="1" dirty="0"/>
              <a:t>│ PREDICTION                                            │</a:t>
            </a:r>
          </a:p>
          <a:p>
            <a:pPr marL="0" indent="0">
              <a:buNone/>
            </a:pPr>
            <a:r>
              <a:rPr lang="en-US" sz="1000" b="1" dirty="0"/>
              <a:t>│ SHAP • LIME → Risk Prediction         │</a:t>
            </a:r>
          </a:p>
          <a:p>
            <a:pPr marL="0" indent="0">
              <a:buNone/>
            </a:pPr>
            <a:r>
              <a:rPr lang="en-US" sz="1000" b="1" dirty="0"/>
              <a:t>└──────────────────────────────┘</a:t>
            </a:r>
            <a:endParaRPr lang="en-IN" sz="1000" dirty="0"/>
          </a:p>
        </p:txBody>
      </p:sp>
      <p:pic>
        <p:nvPicPr>
          <p:cNvPr id="6" name="Picture 5" descr="MAPS &amp; DIRECTIONS - Best Private University in Telangana ...">
            <a:extLst>
              <a:ext uri="{FF2B5EF4-FFF2-40B4-BE49-F238E27FC236}">
                <a16:creationId xmlns:a16="http://schemas.microsoft.com/office/drawing/2014/main" id="{57800F5B-0840-4346-57CB-7859E5AC7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10" y="-333588"/>
            <a:ext cx="1457380" cy="10832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E6B4A9-2E47-E07E-2F1E-2D39B7BB9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08" y="1271452"/>
            <a:ext cx="8116849" cy="541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20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0E0DE-D924-4613-58D2-0638E8737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32D8F-FD4A-ECCC-C000-1772FB13D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Accurate early heart disease prediction. </a:t>
            </a:r>
          </a:p>
          <a:p>
            <a:pPr lvl="0"/>
            <a:r>
              <a:rPr lang="en-US" dirty="0"/>
              <a:t>Transparent AI explanations. </a:t>
            </a:r>
          </a:p>
          <a:p>
            <a:pPr lvl="0"/>
            <a:r>
              <a:rPr lang="en-US" dirty="0"/>
              <a:t>Improved trust among healthcare professionals. </a:t>
            </a:r>
          </a:p>
          <a:p>
            <a:pPr lvl="0"/>
            <a:r>
              <a:rPr lang="en-US" dirty="0"/>
              <a:t>Better clinical decision support. </a:t>
            </a:r>
          </a:p>
          <a:p>
            <a:pPr lvl="0"/>
            <a:r>
              <a:rPr lang="en-US" dirty="0"/>
              <a:t>Easy-to-use prediction framework.</a:t>
            </a:r>
          </a:p>
          <a:p>
            <a:endParaRPr lang="en-US" dirty="0"/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995B022D-6065-420D-9AF7-FD07C850E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6" y="-361699"/>
            <a:ext cx="1592628" cy="118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16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F25F6-3CF1-DE8C-7FEF-ADB6989FB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1688E-5BF0-17E5-B328-54B9B1818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proposed </a:t>
            </a:r>
            <a:r>
              <a:rPr lang="en-US" sz="2400" b="1" dirty="0"/>
              <a:t>Explainable Machine Learning Framework for Early Heart Disease Prediction</a:t>
            </a:r>
            <a:r>
              <a:rPr lang="en-US" sz="2400" dirty="0"/>
              <a:t> combines high prediction accuracy with transparent and interpretable explanations. </a:t>
            </a:r>
          </a:p>
          <a:p>
            <a:r>
              <a:rPr lang="en-US" sz="2400" dirty="0"/>
              <a:t>By integrating Explainable AI techniques such as </a:t>
            </a:r>
            <a:r>
              <a:rPr lang="en-US" sz="2400" b="1" dirty="0"/>
              <a:t>SHAP</a:t>
            </a:r>
            <a:r>
              <a:rPr lang="en-US" sz="2400" dirty="0"/>
              <a:t> and </a:t>
            </a:r>
            <a:r>
              <a:rPr lang="en-US" sz="2400" b="1" dirty="0"/>
              <a:t>LIME</a:t>
            </a:r>
            <a:r>
              <a:rPr lang="en-US" sz="2400" dirty="0"/>
              <a:t>, the system helps healthcare professionals understand the reasoning behind predictions, enabling informed clinical decisions and supporting early diagnosis to improve patient outcomes.</a:t>
            </a:r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3D411B45-5D2D-736E-3839-8FCC3EB26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59" y="-247785"/>
            <a:ext cx="1467655" cy="109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866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657</Words>
  <Application>Microsoft Office PowerPoint</Application>
  <PresentationFormat>Widescreen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 Explainable Machine Learning Framework for Early Heart Disease Prediction</vt:lpstr>
      <vt:lpstr>Problem Statement </vt:lpstr>
      <vt:lpstr>Objectives</vt:lpstr>
      <vt:lpstr>Literature Survey</vt:lpstr>
      <vt:lpstr>Research Gap Identification</vt:lpstr>
      <vt:lpstr>Innovation, Creativity &amp; Novelty</vt:lpstr>
      <vt:lpstr>Feasibility</vt:lpstr>
      <vt:lpstr>Datasets </vt:lpstr>
      <vt:lpstr>Project Plan:</vt:lpstr>
      <vt:lpstr>Expected Outcomes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Anoop Katta</dc:creator>
  <cp:lastModifiedBy>Anoop Katta</cp:lastModifiedBy>
  <cp:revision>18</cp:revision>
  <dcterms:created xsi:type="dcterms:W3CDTF">2026-08-05T03:20:27Z</dcterms:created>
  <dcterms:modified xsi:type="dcterms:W3CDTF">2026-08-13T17:03:21Z</dcterms:modified>
</cp:coreProperties>
</file>